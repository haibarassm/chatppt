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4"/>
  </p:sldMasterIdLst>
  <p:notesMasterIdLst>
    <p:notesMasterId r:id="rId5"/>
  </p:notesMasterIdLst>
  <p:handoutMasterIdLst>
    <p:handoutMasterId r:id="rId6"/>
  </p:handout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47" autoAdjust="0"/>
    <p:restoredTop sz="95392" autoAdjust="0"/>
  </p:normalViewPr>
  <p:slideViewPr>
    <p:cSldViewPr snapToGrid="0" snapToObjects="1" showGuides="1">
      <p:cViewPr varScale="1">
        <p:scale>
          <a:sx n="109" d="100"/>
          <a:sy n="109" d="100"/>
        </p:scale>
        <p:origin x="312" y="10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8/10/relationships/authors" Target="authors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BFD57-AB0A-470B-A7AF-56DFE7B5174A}" type="datetimeFigureOut">
              <a:rPr lang="en-US" smtClean="0"/>
              <a:t>4/2/2026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61A1-75D9-49F7-83EB-F587264261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339F-6CEA-4641-BE08-40DAFD6FCF25}" type="datetimeFigureOut">
              <a:rPr lang="en-US" smtClean="0"/>
              <a:t>4/2/2026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75CB5-5666-5049-9AE0-38EFD385C2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83883F12-F83E-54DF-3DA3-B82018DE689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3848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CAF6AE7E-48A4-853E-86DB-0052397BA0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6250"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C44272C1-9801-6C74-E3C5-F0A5060C594E}"/>
              </a:ext>
            </a:extLst>
          </p:cNvPr>
          <p:cNvGrpSpPr/>
          <p:nvPr userDrawn="1"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AF9DCA5E-5350-4FD4-B89F-6451DE401AE9}"/>
                </a:ext>
              </a:extLst>
            </p:cNvPr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4B5F851F-9556-831E-6D8D-DDF0E2AB1C3A}"/>
                </a:ext>
              </a:extLst>
            </p:cNvPr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01EECA3C-02C9-413D-FEA1-B9A9D24B59CA}"/>
                </a:ext>
              </a:extLst>
            </p:cNvPr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ACE7519B-515E-31A4-DEAA-C410BF3FC50B}"/>
                </a:ext>
              </a:extLst>
            </p:cNvPr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A1FC4F31-6613-C8FF-472F-09D5922D64A9}"/>
                </a:ext>
              </a:extLst>
            </p:cNvPr>
            <p:cNvCxnSpPr/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7E100DB-B59C-06CC-F44D-0AC2D88976A3}"/>
                </a:ext>
              </a:extLst>
            </p:cNvPr>
            <p:cNvCxnSpPr/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FBA5E0DD-5FC6-F661-433E-C3D81611B336}"/>
                </a:ext>
              </a:extLst>
            </p:cNvPr>
            <p:cNvCxnSpPr/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6764B1CE-F369-710C-1DBB-869850EF9EA6}"/>
                </a:ext>
              </a:extLst>
            </p:cNvPr>
            <p:cNvCxnSpPr/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95F8BC69-62FD-E097-B986-8AE6647C1CC1}"/>
                </a:ext>
              </a:extLst>
            </p:cNvPr>
            <p:cNvCxnSpPr/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70BF6F28-F22D-BDD2-C17D-318A90251650}"/>
                </a:ext>
              </a:extLst>
            </p:cNvPr>
            <p:cNvCxnSpPr/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DBD44801-3868-B98F-B6E6-723D21BE2CE7}"/>
                </a:ext>
              </a:extLst>
            </p:cNvPr>
            <p:cNvCxnSpPr/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B9963B2-1F0B-508B-C936-CBF2279564DD}"/>
                </a:ext>
              </a:extLst>
            </p:cNvPr>
            <p:cNvCxnSpPr/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BD7018AA-368F-A10F-540F-C69A448673FB}"/>
                </a:ext>
              </a:extLst>
            </p:cNvPr>
            <p:cNvCxnSpPr/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42FDD5F8-415A-7985-73E1-5EBA423B4B34}"/>
                </a:ext>
              </a:extLst>
            </p:cNvPr>
            <p:cNvCxnSpPr/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3D84F4F4-71E9-81A7-0FFF-7569969BC191}"/>
                </a:ext>
              </a:extLst>
            </p:cNvPr>
            <p:cNvCxnSpPr/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C30F3876-145C-218F-63A4-7AFD307BE963}"/>
                </a:ext>
              </a:extLst>
            </p:cNvPr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BAE1780D-B91B-9A5E-239E-0B8902560FD9}"/>
                </a:ext>
              </a:extLst>
            </p:cNvPr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684EFC02-249A-430B-A691-4E57A9273519}"/>
                </a:ext>
              </a:extLst>
            </p:cNvPr>
            <p:cNvCxnSpPr/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9FDBEC2-AE31-B07A-955D-F203FA0B2D29}"/>
                </a:ext>
              </a:extLst>
            </p:cNvPr>
            <p:cNvCxnSpPr/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0A4FB98F-8CBB-1D06-D483-7EE2726535CF}"/>
                </a:ext>
              </a:extLst>
            </p:cNvPr>
            <p:cNvCxnSpPr/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57A6A89E-FCED-7C49-F11A-3A7F41F27B16}"/>
                </a:ext>
              </a:extLst>
            </p:cNvPr>
            <p:cNvCxnSpPr/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37454269-42CB-A4AD-8691-764ACA9ABF75}"/>
                </a:ext>
              </a:extLst>
            </p:cNvPr>
            <p:cNvCxnSpPr/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78BD6438-BC78-251F-E5AD-7D13AD80C02A}"/>
                </a:ext>
              </a:extLst>
            </p:cNvPr>
            <p:cNvCxnSpPr/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70313F53-3475-15CB-EBB7-828E7B4CD3F9}"/>
                </a:ext>
              </a:extLst>
            </p:cNvPr>
            <p:cNvCxnSpPr/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9AB54B3-7972-F820-57E9-CA9FA31E126C}"/>
                </a:ext>
              </a:extLst>
            </p:cNvPr>
            <p:cNvCxnSpPr/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774201EC-9C47-60A1-F523-DB69653EFE34}"/>
                </a:ext>
              </a:extLst>
            </p:cNvPr>
            <p:cNvCxnSpPr/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843F55B1-954B-F7FD-B332-1C8A7808099C}"/>
                </a:ext>
              </a:extLst>
            </p:cNvPr>
            <p:cNvCxnSpPr/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3C78FB7F-9BF6-210D-3D6B-F759962002D9}"/>
                </a:ext>
              </a:extLst>
            </p:cNvPr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88FBFF55-6483-B840-726E-13FEA878D575}"/>
                </a:ext>
              </a:extLst>
            </p:cNvPr>
            <p:cNvCxnSpPr/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7A6CAC4B-A64B-36C1-FD4E-C51E3FC02B6F}"/>
                </a:ext>
              </a:extLst>
            </p:cNvPr>
            <p:cNvCxnSpPr/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EB9238B3-1FD7-015E-576A-51DA415FD889}"/>
                </a:ext>
              </a:extLst>
            </p:cNvPr>
            <p:cNvCxnSpPr/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Freeform: Shape 127">
            <a:extLst>
              <a:ext uri="{FF2B5EF4-FFF2-40B4-BE49-F238E27FC236}">
                <a16:creationId xmlns:a16="http://schemas.microsoft.com/office/drawing/2014/main" id="{E58C1731-578B-0EB3-585F-2AD5A3D10D3E}"/>
              </a:ext>
            </a:extLst>
          </p:cNvPr>
          <p:cNvSpPr/>
          <p:nvPr userDrawn="1"/>
        </p:nvSpPr>
        <p:spPr>
          <a:xfrm>
            <a:off x="-6215" y="3657600"/>
            <a:ext cx="12198214" cy="3200399"/>
          </a:xfrm>
          <a:custGeom>
            <a:avLst/>
            <a:gdLst>
              <a:gd name="connsiteX0" fmla="*/ 8951169 w 12179808"/>
              <a:gd name="connsiteY0" fmla="*/ 14 h 3200399"/>
              <a:gd name="connsiteX1" fmla="*/ 11653845 w 12179808"/>
              <a:gd name="connsiteY1" fmla="*/ 98641 h 3200399"/>
              <a:gd name="connsiteX2" fmla="*/ 12178450 w 12179808"/>
              <a:gd name="connsiteY2" fmla="*/ 134761 h 3200399"/>
              <a:gd name="connsiteX3" fmla="*/ 12178450 w 12179808"/>
              <a:gd name="connsiteY3" fmla="*/ 852282 h 3200399"/>
              <a:gd name="connsiteX4" fmla="*/ 12179808 w 12179808"/>
              <a:gd name="connsiteY4" fmla="*/ 852282 h 3200399"/>
              <a:gd name="connsiteX5" fmla="*/ 12179808 w 12179808"/>
              <a:gd name="connsiteY5" fmla="*/ 1752600 h 3200399"/>
              <a:gd name="connsiteX6" fmla="*/ 12179808 w 12179808"/>
              <a:gd name="connsiteY6" fmla="*/ 1981199 h 3200399"/>
              <a:gd name="connsiteX7" fmla="*/ 12179808 w 12179808"/>
              <a:gd name="connsiteY7" fmla="*/ 3200399 h 3200399"/>
              <a:gd name="connsiteX8" fmla="*/ 0 w 12179808"/>
              <a:gd name="connsiteY8" fmla="*/ 3200399 h 3200399"/>
              <a:gd name="connsiteX9" fmla="*/ 0 w 12179808"/>
              <a:gd name="connsiteY9" fmla="*/ 1981199 h 3200399"/>
              <a:gd name="connsiteX10" fmla="*/ 0 w 12179808"/>
              <a:gd name="connsiteY10" fmla="*/ 1752600 h 3200399"/>
              <a:gd name="connsiteX11" fmla="*/ 0 w 12179808"/>
              <a:gd name="connsiteY11" fmla="*/ 940776 h 3200399"/>
              <a:gd name="connsiteX12" fmla="*/ 0 w 12179808"/>
              <a:gd name="connsiteY12" fmla="*/ 852282 h 3200399"/>
              <a:gd name="connsiteX13" fmla="*/ 0 w 12179808"/>
              <a:gd name="connsiteY13" fmla="*/ 475166 h 3200399"/>
              <a:gd name="connsiteX14" fmla="*/ 8951169 w 12179808"/>
              <a:gd name="connsiteY14" fmla="*/ 14 h 3200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79808" h="3200399">
                <a:moveTo>
                  <a:pt x="8951169" y="14"/>
                </a:moveTo>
                <a:cubicBezTo>
                  <a:pt x="9704520" y="748"/>
                  <a:pt x="10578586" y="29202"/>
                  <a:pt x="11653845" y="98641"/>
                </a:cubicBezTo>
                <a:lnTo>
                  <a:pt x="12178450" y="134761"/>
                </a:lnTo>
                <a:lnTo>
                  <a:pt x="12178450" y="852282"/>
                </a:lnTo>
                <a:lnTo>
                  <a:pt x="12179808" y="852282"/>
                </a:lnTo>
                <a:lnTo>
                  <a:pt x="12179808" y="1752600"/>
                </a:lnTo>
                <a:lnTo>
                  <a:pt x="12179808" y="1981199"/>
                </a:lnTo>
                <a:lnTo>
                  <a:pt x="12179808" y="3200399"/>
                </a:lnTo>
                <a:lnTo>
                  <a:pt x="0" y="3200399"/>
                </a:lnTo>
                <a:lnTo>
                  <a:pt x="0" y="1981199"/>
                </a:lnTo>
                <a:lnTo>
                  <a:pt x="0" y="1752600"/>
                </a:lnTo>
                <a:lnTo>
                  <a:pt x="0" y="940776"/>
                </a:lnTo>
                <a:lnTo>
                  <a:pt x="0" y="852282"/>
                </a:lnTo>
                <a:lnTo>
                  <a:pt x="0" y="475166"/>
                </a:lnTo>
                <a:cubicBezTo>
                  <a:pt x="4768989" y="475166"/>
                  <a:pt x="5812206" y="-3043"/>
                  <a:pt x="8951169" y="14"/>
                </a:cubicBezTo>
                <a:close/>
              </a:path>
            </a:pathLst>
          </a:cu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D69A62-8D84-F14D-A27C-164B13641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4408290"/>
            <a:ext cx="10325000" cy="1442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6357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0" name="Rectangle 109">
            <a:extLst>
              <a:ext uri="{FF2B5EF4-FFF2-40B4-BE49-F238E27FC236}">
                <a16:creationId xmlns:a16="http://schemas.microsoft.com/office/drawing/2014/main" id="{F1F668FE-0FDD-1E1A-4353-6F67B9A22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1" name="Group 10">
            <a:extLst>
              <a:ext uri="{FF2B5EF4-FFF2-40B4-BE49-F238E27FC236}">
                <a16:creationId xmlns:a16="http://schemas.microsoft.com/office/drawing/2014/main" id="{D14D48C7-CEC1-09E5-1E79-6C8046A1FC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67C77A70-5949-A61E-9FC3-FBF0D617B3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2">
              <a:extLst>
                <a:ext uri="{FF2B5EF4-FFF2-40B4-BE49-F238E27FC236}">
                  <a16:creationId xmlns:a16="http://schemas.microsoft.com/office/drawing/2014/main" id="{767F6DFC-0245-6287-8256-21A307FE2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D062E220-69B0-25FC-172E-09FDA67D8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C7E1A66A-0044-5E46-91A0-7FDFA5E5A7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EE6CCEFF-D5B0-74EB-02F2-4E4BBA794E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081D6279-66C7-58EC-A26F-B4215F7340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A5189984-83A1-521E-761B-5BB7AA579F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B2F6A420-2CB9-7EDD-324A-B0CEBE0163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0F918D85-D77E-50A5-0851-B0808292D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F8FC2123-0948-FF42-D605-3BE7AC8F5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C8F60ED1-0186-93DD-B077-35711DB4CC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2113A374-031D-1E6F-C180-1C3EF35D05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E4DAB9DE-3DB7-4CE3-1A6D-D0D4ED7B6B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24">
              <a:extLst>
                <a:ext uri="{FF2B5EF4-FFF2-40B4-BE49-F238E27FC236}">
                  <a16:creationId xmlns:a16="http://schemas.microsoft.com/office/drawing/2014/main" id="{E04D1F4B-20DF-E6F3-8F6F-AA2C53B013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25">
              <a:extLst>
                <a:ext uri="{FF2B5EF4-FFF2-40B4-BE49-F238E27FC236}">
                  <a16:creationId xmlns:a16="http://schemas.microsoft.com/office/drawing/2014/main" id="{50E3E8B9-8816-E53E-BE71-F372671512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D3177586-401E-76BA-3755-C183A03C06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10589AFB-5902-AAA8-00F9-16A6CF079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C049953B-0E12-FA9C-17C6-9303494199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29FC464B-3728-BF92-D8BD-E2CE30A9AE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0B1558BA-CB87-9325-0D82-930341CB75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66753EF0-64C0-8FD9-8D9E-3DF787FE5A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2811AA52-939C-8697-B215-4A496AF3E9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4C3011ED-1430-A5E7-A42A-5BC4B48C80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854C0B37-FFC2-8892-DC7C-1DC3D74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534847F9-D1B2-F279-CA70-BCD8214FF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B07283CF-6835-42F3-B526-6430F3FBF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95EF1803-EC41-EF0E-6102-F40BAD6354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E6530FEA-9E6C-6DE7-9CCE-8B1E9D8995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FCE98AE2-157B-D2CB-B911-97DD0ABC63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1D295DBE-AF7B-1E20-B0DA-2410F3A070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E0D9904-DC5D-1F99-B3FB-952578E3D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3" name="Picture 142">
            <a:extLst>
              <a:ext uri="{FF2B5EF4-FFF2-40B4-BE49-F238E27FC236}">
                <a16:creationId xmlns:a16="http://schemas.microsoft.com/office/drawing/2014/main" id="{6D3E04B6-E4C7-6C7A-0E49-5A385358FF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5165" b="43493"/>
          <a:stretch/>
        </p:blipFill>
        <p:spPr>
          <a:xfrm>
            <a:off x="-6214" y="10"/>
            <a:ext cx="12214825" cy="3383374"/>
          </a:xfrm>
          <a:custGeom>
            <a:avLst/>
            <a:gdLst/>
            <a:ahLst/>
            <a:cxnLst/>
            <a:rect l="l" t="t" r="r" b="b"/>
            <a:pathLst>
              <a:path w="12214825" h="3383384">
                <a:moveTo>
                  <a:pt x="12213819" y="0"/>
                </a:moveTo>
                <a:cubicBezTo>
                  <a:pt x="12213819" y="29107"/>
                  <a:pt x="12214067" y="89770"/>
                  <a:pt x="12214502" y="174101"/>
                </a:cubicBezTo>
                <a:lnTo>
                  <a:pt x="12214825" y="234681"/>
                </a:lnTo>
                <a:lnTo>
                  <a:pt x="12214825" y="2718323"/>
                </a:lnTo>
                <a:lnTo>
                  <a:pt x="11377417" y="2725712"/>
                </a:lnTo>
                <a:cubicBezTo>
                  <a:pt x="7318291" y="2799276"/>
                  <a:pt x="6189525" y="3387660"/>
                  <a:pt x="3246747" y="3383361"/>
                </a:cubicBezTo>
                <a:cubicBezTo>
                  <a:pt x="2493396" y="3382260"/>
                  <a:pt x="1619330" y="3339570"/>
                  <a:pt x="544071" y="3235389"/>
                </a:cubicBezTo>
                <a:lnTo>
                  <a:pt x="19466" y="3181198"/>
                </a:lnTo>
                <a:cubicBezTo>
                  <a:pt x="22117" y="2650999"/>
                  <a:pt x="12840" y="2122787"/>
                  <a:pt x="3563" y="1594575"/>
                </a:cubicBezTo>
                <a:lnTo>
                  <a:pt x="0" y="1239098"/>
                </a:lnTo>
                <a:lnTo>
                  <a:pt x="0" y="7944"/>
                </a:lnTo>
                <a:close/>
              </a:path>
            </a:pathLst>
          </a:custGeom>
        </p:spPr>
      </p:pic>
      <p:sp>
        <p:nvSpPr>
          <p:cNvPr id="144" name="Right Triangle 143">
            <a:extLst>
              <a:ext uri="{FF2B5EF4-FFF2-40B4-BE49-F238E27FC236}">
                <a16:creationId xmlns:a16="http://schemas.microsoft.com/office/drawing/2014/main" id="{693C14E9-0F49-BAB7-62E6-A2A831114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79642" y="4239706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5" name="Title Placeholder 1">
            <a:extLst>
              <a:ext uri="{FF2B5EF4-FFF2-40B4-BE49-F238E27FC236}">
                <a16:creationId xmlns:a16="http://schemas.microsoft.com/office/drawing/2014/main" id="{560705C7-56E7-0D1A-2A27-024044D77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3971878"/>
            <a:ext cx="10325000" cy="18788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59915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0,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1079" y="725952"/>
            <a:ext cx="10325000" cy="1058782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1079" y="2016087"/>
            <a:ext cx="10325000" cy="388848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77707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Content 1,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ight Triangle 39"/>
          <p:cNvSpPr/>
          <p:nvPr/>
        </p:nvSpPr>
        <p:spPr>
          <a:xfrm rot="13500000">
            <a:off x="-281092" y="31448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87" y="713677"/>
            <a:ext cx="4499914" cy="299658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8671" y="708102"/>
            <a:ext cx="6271749" cy="5430644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42903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Content 2,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AB233BE-1CB9-6FB5-D94C-D33AED6BB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390160"/>
            <a:ext cx="10325000" cy="69559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88EAA-7CC8-7452-CD07-51C96DF13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1531007"/>
            <a:ext cx="10325000" cy="43735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3047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Content 3,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Right Triangle 39"/>
          <p:cNvSpPr/>
          <p:nvPr/>
        </p:nvSpPr>
        <p:spPr>
          <a:xfrm rot="2700000">
            <a:off x="11901644" y="3058996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05A8E-5AC2-1E56-A14E-729035DC9F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915" y="708102"/>
            <a:ext cx="6230523" cy="5430644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61C309F-1BCE-9817-6664-E26DE5E05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0732" y="713677"/>
            <a:ext cx="4499914" cy="299658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44018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Content, Picture 1,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20955" y="713678"/>
            <a:ext cx="4434823" cy="1490078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0" name="Right Triangle 39"/>
          <p:cNvSpPr/>
          <p:nvPr/>
        </p:nvSpPr>
        <p:spPr>
          <a:xfrm rot="2700000">
            <a:off x="11901643" y="105065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1233D36C-7D80-714A-B421-3A9542E9AE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38206" y="2375471"/>
            <a:ext cx="4419058" cy="376702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N" dirty="0"/>
          </a:p>
        </p:txBody>
      </p:sp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8AFDF614-6457-A597-813C-4E49D8BBEE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31781" y="713677"/>
            <a:ext cx="6439899" cy="5428167"/>
          </a:xfr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9095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Content, Picture 0,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87" y="713678"/>
            <a:ext cx="4434823" cy="1490078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0" name="Right Triangle 39"/>
          <p:cNvSpPr/>
          <p:nvPr/>
        </p:nvSpPr>
        <p:spPr>
          <a:xfrm rot="13500000">
            <a:off x="-281092" y="134450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1233D36C-7D80-714A-B421-3A9542E9AE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0838" y="2375471"/>
            <a:ext cx="4419058" cy="376702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N" dirty="0"/>
          </a:p>
        </p:txBody>
      </p:sp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8AFDF614-6457-A597-813C-4E49D8BBEE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10936" y="713677"/>
            <a:ext cx="6439899" cy="5428167"/>
          </a:xfr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19984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Content, Picture 2,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88EAA-7CC8-7452-CD07-51C96DF13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929822"/>
            <a:ext cx="10325000" cy="1241700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FB0C965-27F1-6BE0-F0CD-51B56C0A7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28510"/>
            <a:ext cx="10325000" cy="69559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9" name="Picture Placeholder 12">
            <a:extLst>
              <a:ext uri="{FF2B5EF4-FFF2-40B4-BE49-F238E27FC236}">
                <a16:creationId xmlns:a16="http://schemas.microsoft.com/office/drawing/2014/main" id="{B2EC8A93-D66F-D231-655A-89FC743E1B0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77374" y="2244445"/>
            <a:ext cx="10326270" cy="4599234"/>
          </a:xfr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21662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Picture 0,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C0FE04E-8B1F-5AAB-0D71-93977D91780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215" y="-2"/>
            <a:ext cx="12169165" cy="6857998"/>
          </a:xfrm>
        </p:spPr>
        <p:txBody>
          <a:bodyPr/>
          <a:lstStyle/>
          <a:p>
            <a:endParaRPr lang="en-CN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6B2C9348-E48E-5174-E099-8CDD4966B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752" y="725951"/>
            <a:ext cx="9940581" cy="1893175"/>
          </a:xfrm>
        </p:spPr>
        <p:txBody>
          <a:bodyPr anchor="ctr">
            <a:normAutofit/>
          </a:bodyPr>
          <a:lstStyle>
            <a:lvl1pPr algn="ctr">
              <a:defRPr kumimoji="0" lang="en-US" sz="5200" b="1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6238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9">
            <a:extLst>
              <a:ext uri="{FF2B5EF4-FFF2-40B4-BE49-F238E27FC236}">
                <a16:creationId xmlns:a16="http://schemas.microsoft.com/office/drawing/2014/main" id="{4F66527F-E04C-BE43-8B5C-F7F0A9DB955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5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 panose="02000503000000020004"/>
              <a:ea typeface="Helvetica Neue Medium" panose="02000503000000020004"/>
              <a:cs typeface="Helvetica Neue Medium" panose="02000503000000020004"/>
              <a:sym typeface="Helvetica Neue" panose="02000503000000020004"/>
            </a:endParaRPr>
          </a:p>
        </p:txBody>
      </p:sp>
      <p:sp>
        <p:nvSpPr>
          <p:cNvPr id="4" name="Picture Placeholder 37">
            <a:extLst>
              <a:ext uri="{FF2B5EF4-FFF2-40B4-BE49-F238E27FC236}">
                <a16:creationId xmlns:a16="http://schemas.microsoft.com/office/drawing/2014/main" id="{77DB3177-02FA-8286-DF2E-7B4F5BD9943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215" y="-2"/>
            <a:ext cx="12169165" cy="6857998"/>
          </a:xfr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622144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Pictu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>
            <a:extLst>
              <a:ext uri="{FF2B5EF4-FFF2-40B4-BE49-F238E27FC236}">
                <a16:creationId xmlns:a16="http://schemas.microsoft.com/office/drawing/2014/main" id="{9E30A1EC-0FE2-CF2B-5A03-1DDE14D9711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5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 panose="02000503000000020004"/>
              <a:ea typeface="Helvetica Neue Medium" panose="02000503000000020004"/>
              <a:cs typeface="Helvetica Neue Medium" panose="02000503000000020004"/>
              <a:sym typeface="Helvetica Neue" panose="0200050300000002000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25579A-2D12-97A8-8D43-B92137AC7607}"/>
              </a:ext>
            </a:extLst>
          </p:cNvPr>
          <p:cNvSpPr/>
          <p:nvPr userDrawn="1"/>
        </p:nvSpPr>
        <p:spPr>
          <a:xfrm>
            <a:off x="987829" y="748146"/>
            <a:ext cx="10216342" cy="5361709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5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 panose="02000503000000020004"/>
              <a:ea typeface="Helvetica Neue Medium" panose="02000503000000020004"/>
              <a:cs typeface="Helvetica Neue Medium" panose="02000503000000020004"/>
              <a:sym typeface="Helvetica Neue" panose="02000503000000020004"/>
            </a:endParaRPr>
          </a:p>
        </p:txBody>
      </p:sp>
      <p:sp>
        <p:nvSpPr>
          <p:cNvPr id="41" name="Picture Placeholder 37">
            <a:extLst>
              <a:ext uri="{FF2B5EF4-FFF2-40B4-BE49-F238E27FC236}">
                <a16:creationId xmlns:a16="http://schemas.microsoft.com/office/drawing/2014/main" id="{A9DF9E11-3DC1-BC77-18A4-0E01B104DC0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87829" y="748146"/>
            <a:ext cx="10216342" cy="5361709"/>
          </a:xfrm>
        </p:spPr>
        <p:txBody>
          <a:bodyPr/>
          <a:lstStyle/>
          <a:p>
            <a:endParaRPr lang="en-CN"/>
          </a:p>
        </p:txBody>
      </p:sp>
      <p:sp>
        <p:nvSpPr>
          <p:cNvPr id="43" name="Title 1">
            <a:extLst>
              <a:ext uri="{FF2B5EF4-FFF2-40B4-BE49-F238E27FC236}">
                <a16:creationId xmlns:a16="http://schemas.microsoft.com/office/drawing/2014/main" id="{64BE6846-477A-A6B6-EED3-F0AA5E0D3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012" y="87471"/>
            <a:ext cx="9995282" cy="448336"/>
          </a:xfrm>
        </p:spPr>
        <p:txBody>
          <a:bodyPr>
            <a:noAutofit/>
          </a:bodyPr>
          <a:lstStyle>
            <a:lvl1pPr algn="l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786682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3774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0" name="Straight Connector 39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079" y="2340131"/>
            <a:ext cx="10325000" cy="3564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3587" y="6215870"/>
            <a:ext cx="3843779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72BA41-EC5B-4197-BCC8-0FD2E523CD7A}" type="datetimeFigureOut">
              <a:rPr lang="en-US" smtClean="0"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91078" y="236364"/>
            <a:ext cx="4114800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03649" y="6215870"/>
            <a:ext cx="979151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108C-154A-4A5A-9C05-91A49A422BA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ight Triangle 6"/>
          <p:cNvSpPr/>
          <p:nvPr/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932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23" r:id="rId2"/>
    <p:sldLayoutId id="2147483702" r:id="rId3"/>
    <p:sldLayoutId id="2147483726" r:id="rId4"/>
    <p:sldLayoutId id="2147483719" r:id="rId5"/>
    <p:sldLayoutId id="2147483727" r:id="rId6"/>
    <p:sldLayoutId id="2147483725" r:id="rId7"/>
    <p:sldLayoutId id="2147483709" r:id="rId8"/>
    <p:sldLayoutId id="2147483720" r:id="rId9"/>
    <p:sldLayoutId id="2147483707" r:id="rId10"/>
    <p:sldLayoutId id="2147483716" r:id="rId11"/>
    <p:sldLayoutId id="2147483715" r:id="rId12"/>
    <p:sldLayoutId id="2147483717" r:id="rId13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React技术框架全面解析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React核心概念与历史背景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React的定义与定位</a:t>
            </a:r>
            <a:r>
              <a:t>：React是由Facebook开发的开源JavaScript库，专注于构建用户界面</a:t>
            </a:r>
          </a:p>
          <a:p>
            <a:pPr lvl="1"/>
            <a:r>
              <a:rPr b="1"/>
              <a:t>核心特性解析</a:t>
            </a:r>
            <a:r>
              <a:t>：</a:t>
            </a:r>
          </a:p>
          <a:p>
            <a:pPr lvl="2"/>
            <a:r>
              <a:t>采用声明式编程范式，开发者只需描述UI应该呈现的状态</a:t>
            </a:r>
          </a:p>
          <a:p>
            <a:pPr lvl="2"/>
            <a:r>
              <a:t>基于组件化架构，支持高度复用和模块化开发</a:t>
            </a:r>
          </a:p>
          <a:p>
            <a:pPr lvl="2"/>
            <a:r>
              <a:t>虚拟DOM机制显著提升渲染性能，减少直接DOM操作</a:t>
            </a:r>
          </a:p>
          <a:p>
            <a:pPr lvl="1"/>
            <a:r>
              <a:rPr b="1"/>
              <a:t>发展历程</a:t>
            </a:r>
            <a:r>
              <a:t>：</a:t>
            </a:r>
          </a:p>
          <a:p>
            <a:pPr lvl="2"/>
            <a:r>
              <a:t>2013年首次开源，最初用于解决Facebook广告系统的复杂UI问题</a:t>
            </a:r>
          </a:p>
          <a:p>
            <a:pPr lvl="2"/>
            <a:r>
              <a:t>2015年引入React Native，扩展至移动端开发领域</a:t>
            </a:r>
          </a:p>
          <a:p>
            <a:pPr lvl="2"/>
            <a:r>
              <a:t>持续演进中，最新版本强调并发特性和服务端渲染优化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JSX语法深度解析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JSX的本质与优势</a:t>
            </a:r>
            <a:r>
              <a:t>：JavaScript XML扩展语法，融合HTML与JavaScript</a:t>
            </a:r>
          </a:p>
          <a:p>
            <a:pPr lvl="1"/>
            <a:r>
              <a:rPr b="1"/>
              <a:t>语法特性详解</a:t>
            </a:r>
            <a:r>
              <a:t>：</a:t>
            </a:r>
          </a:p>
          <a:p>
            <a:pPr lvl="2"/>
            <a:r>
              <a:t>允许在JavaScript中直接编写类似HTML的标记结构</a:t>
            </a:r>
          </a:p>
          <a:p>
            <a:pPr lvl="2"/>
            <a:r>
              <a:t>编译阶段通过Babel转换为React.createElement()调用</a:t>
            </a:r>
          </a:p>
          <a:p>
            <a:pPr lvl="2"/>
            <a:r>
              <a:t>支持表达式嵌入、条件渲染和循环渲染等高级特性</a:t>
            </a:r>
          </a:p>
          <a:p>
            <a:pPr lvl="1"/>
            <a:r>
              <a:rPr b="1"/>
              <a:t>最佳实践指南</a:t>
            </a:r>
            <a:r>
              <a:t>：</a:t>
            </a:r>
          </a:p>
          <a:p>
            <a:pPr lvl="2"/>
            <a:r>
              <a:t>组件命名采用PascalCase规范</a:t>
            </a:r>
          </a:p>
          <a:p>
            <a:pPr lvl="2"/>
            <a:r>
              <a:t>事件处理使用camelCase命名约定</a:t>
            </a:r>
          </a:p>
          <a:p>
            <a:pPr lvl="2"/>
            <a:r>
              <a:t>推荐使用Fragment避免不必要的DOM节点嵌套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组件化架构设计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/>
            <a:r>
              <a:rPr b="1"/>
              <a:t>组件分类与设计原则</a:t>
            </a:r>
            <a:r>
              <a:t>：</a:t>
            </a:r>
          </a:p>
          <a:p>
            <a:pPr lvl="1"/>
            <a:r>
              <a:rPr b="1"/>
              <a:t>函数组件</a:t>
            </a:r>
            <a:r>
              <a:t>：无状态组件，基于Hooks实现状态管理</a:t>
            </a:r>
          </a:p>
          <a:p>
            <a:pPr lvl="2"/>
            <a:r>
              <a:t>代码简洁，易于测试和维护</a:t>
            </a:r>
          </a:p>
          <a:p>
            <a:pPr lvl="2"/>
            <a:r>
              <a:t>性能优化空间较大，适合展示型组件</a:t>
            </a:r>
          </a:p>
          <a:p>
            <a:pPr lvl="1"/>
            <a:r>
              <a:rPr b="1"/>
              <a:t>类组件</a:t>
            </a:r>
            <a:r>
              <a:t>：传统组件形式，拥有完整的生命周期</a:t>
            </a:r>
          </a:p>
          <a:p>
            <a:pPr lvl="2"/>
            <a:r>
              <a:t>提供更精细的生命周期控制</a:t>
            </a:r>
          </a:p>
          <a:p>
            <a:pPr lvl="2"/>
            <a:r>
              <a:t>支持错误边界等高级特性</a:t>
            </a:r>
          </a:p>
          <a:p>
            <a:pPr/>
            <a:r>
              <a:rPr b="1"/>
              <a:t>组件通信模式</a:t>
            </a:r>
            <a:r>
              <a:t>：</a:t>
            </a:r>
          </a:p>
          <a:p>
            <a:pPr lvl="1"/>
            <a:r>
              <a:t>父子组件通过props传递数据</a:t>
            </a:r>
          </a:p>
          <a:p>
            <a:pPr lvl="1"/>
            <a:r>
              <a:t>上下文API实现跨层级数据共享</a:t>
            </a:r>
          </a:p>
          <a:p>
            <a:pPr lvl="1"/>
            <a:r>
              <a:t>状态提升策略处理兄弟组件通信</a:t>
            </a:r>
          </a:p>
        </p:txBody>
      </p:sp>
      <p:pic>
        <p:nvPicPr>
          <p:cNvPr id="5" name="Picture 4" descr="幻灯片3：组件化架构设计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781" y="1817785"/>
            <a:ext cx="6439899" cy="321994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状态管理与Hooks革命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useState Hook深度剖析</a:t>
            </a:r>
            <a:r>
              <a:t>：</a:t>
            </a:r>
          </a:p>
          <a:p>
            <a:pPr lvl="1"/>
            <a:r>
              <a:t>函数组件状态管理解决方案</a:t>
            </a:r>
          </a:p>
          <a:p>
            <a:pPr lvl="1"/>
            <a:r>
              <a:t>支持基础类型和复杂对象状态</a:t>
            </a:r>
          </a:p>
          <a:p>
            <a:pPr lvl="1"/>
            <a:r>
              <a:t>批量更新机制优化渲染性能</a:t>
            </a:r>
          </a:p>
          <a:p>
            <a:pPr/>
            <a:r>
              <a:rPr b="1"/>
              <a:t>useEffect Hook应用场景</a:t>
            </a:r>
            <a:r>
              <a:t>：</a:t>
            </a:r>
          </a:p>
          <a:p>
            <a:pPr lvl="1"/>
            <a:r>
              <a:t>替代类组件生命周期方法</a:t>
            </a:r>
          </a:p>
          <a:p>
            <a:pPr lvl="1"/>
            <a:r>
              <a:t>处理副作用操作：数据获取、订阅管理</a:t>
            </a:r>
          </a:p>
          <a:p>
            <a:pPr lvl="1"/>
            <a:r>
              <a:t>依赖数组控制执行时机，避免不必要的重渲染</a:t>
            </a:r>
          </a:p>
          <a:p>
            <a:pPr/>
            <a:r>
              <a:rPr b="1"/>
              <a:t>自定义Hook设计模式</a:t>
            </a:r>
            <a:r>
              <a:t>：</a:t>
            </a:r>
          </a:p>
          <a:p>
            <a:pPr lvl="1"/>
            <a:r>
              <a:t>提取可复用状态逻辑</a:t>
            </a:r>
          </a:p>
          <a:p>
            <a:pPr lvl="1"/>
            <a:r>
              <a:t>遵循"use"前缀命名规范</a:t>
            </a:r>
          </a:p>
          <a:p>
            <a:pPr lvl="1"/>
            <a:r>
              <a:t>实现关注点分离，提升代码可维护性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虚拟DOM与渲染优化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/>
            <a:r>
              <a:rPr b="1"/>
              <a:t>虚拟DOM工作原理</a:t>
            </a:r>
            <a:r>
              <a:t>：</a:t>
            </a:r>
          </a:p>
          <a:p>
            <a:pPr lvl="1"/>
            <a:r>
              <a:t>内存中维护轻量级DOM表示</a:t>
            </a:r>
          </a:p>
          <a:p>
            <a:pPr lvl="1"/>
            <a:r>
              <a:t>Diff算法高效比较变更差异</a:t>
            </a:r>
          </a:p>
          <a:p>
            <a:pPr lvl="1"/>
            <a:r>
              <a:t>批量更新减少实际DOM操作次数</a:t>
            </a:r>
          </a:p>
          <a:p>
            <a:pPr/>
            <a:r>
              <a:rPr b="1"/>
              <a:t>性能优化策略</a:t>
            </a:r>
            <a:r>
              <a:t>：</a:t>
            </a:r>
          </a:p>
          <a:p>
            <a:pPr lvl="1"/>
            <a:r>
              <a:rPr b="1"/>
              <a:t>React.memo</a:t>
            </a:r>
            <a:r>
              <a:t>：组件级别缓存优化</a:t>
            </a:r>
          </a:p>
          <a:p>
            <a:pPr lvl="2"/>
            <a:r>
              <a:t>浅比较props变化，避免不必要的重渲染</a:t>
            </a:r>
          </a:p>
          <a:p>
            <a:pPr lvl="2"/>
            <a:r>
              <a:t>支持自定义比较函数实现深度优化</a:t>
            </a:r>
          </a:p>
          <a:p>
            <a:pPr lvl="1"/>
            <a:r>
              <a:rPr b="1"/>
              <a:t>useMemo与useCallback</a:t>
            </a:r>
            <a:r>
              <a:t>：</a:t>
            </a:r>
          </a:p>
          <a:p>
            <a:pPr lvl="2"/>
            <a:r>
              <a:t>缓存计算结果和函数引用</a:t>
            </a:r>
          </a:p>
          <a:p>
            <a:pPr lvl="2"/>
            <a:r>
              <a:t>依赖数组控制重新计算时机</a:t>
            </a:r>
          </a:p>
          <a:p>
            <a:pPr lvl="2"/>
            <a:r>
              <a:t>显著提升复杂组件的渲染性能</a:t>
            </a:r>
          </a:p>
        </p:txBody>
      </p:sp>
      <p:pic>
        <p:nvPicPr>
          <p:cNvPr id="5" name="Picture 4" descr="幻灯片5：虚拟DOM与渲染优化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6010" y="713676"/>
            <a:ext cx="4769750" cy="542816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路由管理与状态库集成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React Router核心机制</a:t>
            </a:r>
            <a:r>
              <a:t>：</a:t>
            </a:r>
          </a:p>
          <a:p>
            <a:pPr lvl="1"/>
            <a:r>
              <a:t>声明式路由配置系统</a:t>
            </a:r>
          </a:p>
          <a:p>
            <a:pPr lvl="1"/>
            <a:r>
              <a:t>动态路由匹配与参数解析</a:t>
            </a:r>
          </a:p>
          <a:p>
            <a:pPr lvl="1"/>
            <a:r>
              <a:t>嵌套路由支持复杂布局结构</a:t>
            </a:r>
          </a:p>
          <a:p>
            <a:pPr/>
            <a:r>
              <a:rPr b="1"/>
              <a:t>状态管理库选型指南</a:t>
            </a:r>
            <a:r>
              <a:t>：</a:t>
            </a:r>
          </a:p>
          <a:p>
            <a:pPr lvl="1"/>
            <a:r>
              <a:rPr b="1"/>
              <a:t>Redux</a:t>
            </a:r>
            <a:r>
              <a:t>：集中式状态管理方案</a:t>
            </a:r>
          </a:p>
          <a:p>
            <a:pPr lvl="2"/>
            <a:r>
              <a:t>单向数据流确保可预测性</a:t>
            </a:r>
          </a:p>
          <a:p>
            <a:pPr lvl="2"/>
            <a:r>
              <a:t>中间件机制支持异步操作</a:t>
            </a:r>
          </a:p>
          <a:p>
            <a:pPr lvl="1"/>
            <a:r>
              <a:rPr b="1"/>
              <a:t>MobX</a:t>
            </a:r>
            <a:r>
              <a:t>：响应式状态管理</a:t>
            </a:r>
          </a:p>
          <a:p>
            <a:pPr lvl="2"/>
            <a:r>
              <a:t>基于观察者模式自动追踪依赖</a:t>
            </a:r>
          </a:p>
          <a:p>
            <a:pPr lvl="2"/>
            <a:r>
              <a:t>语法简洁，学习曲线较平缓</a:t>
            </a:r>
          </a:p>
          <a:p>
            <a:pPr lvl="1"/>
            <a:r>
              <a:rPr b="1"/>
              <a:t>Context API</a:t>
            </a:r>
            <a:r>
              <a:t>：内置轻量级方案</a:t>
            </a:r>
          </a:p>
          <a:p>
            <a:pPr lvl="2"/>
            <a:r>
              <a:t>适合中小型应用状态管理</a:t>
            </a:r>
          </a:p>
          <a:p>
            <a:pPr lvl="2"/>
            <a:r>
              <a:t>无需额外依赖，集成成本低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服务端渲染与Next.js框架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/>
            <a:r>
              <a:rPr b="1"/>
              <a:t>SSR技术价值分析</a:t>
            </a:r>
            <a:r>
              <a:t>：</a:t>
            </a:r>
          </a:p>
          <a:p>
            <a:pPr lvl="1"/>
            <a:r>
              <a:t>提升首屏加载速度，改善用户体验</a:t>
            </a:r>
          </a:p>
          <a:p>
            <a:pPr lvl="1"/>
            <a:r>
              <a:t>增强SEO友好性，便于搜索引擎抓取</a:t>
            </a:r>
          </a:p>
          <a:p>
            <a:pPr lvl="1"/>
            <a:r>
              <a:t>服务端数据预取，减少客户端请求</a:t>
            </a:r>
          </a:p>
          <a:p>
            <a:pPr/>
            <a:r>
              <a:rPr b="1"/>
              <a:t>Next.js核心特性</a:t>
            </a:r>
            <a:r>
              <a:t>：</a:t>
            </a:r>
          </a:p>
          <a:p>
            <a:pPr lvl="1"/>
            <a:r>
              <a:t>文件系统路由自动生成</a:t>
            </a:r>
          </a:p>
          <a:p>
            <a:pPr lvl="1"/>
            <a:r>
              <a:t>静态生成与服务器渲染混合模式</a:t>
            </a:r>
          </a:p>
          <a:p>
            <a:pPr lvl="1"/>
            <a:r>
              <a:t>API路由支持全栈开发</a:t>
            </a:r>
          </a:p>
          <a:p>
            <a:pPr lvl="1"/>
            <a:r>
              <a:t>图像优化与国际化内置支持</a:t>
            </a:r>
          </a:p>
        </p:txBody>
      </p:sp>
      <p:pic>
        <p:nvPicPr>
          <p:cNvPr id="5" name="Picture 4" descr="幻灯片7：服务端渲染与Next.js框架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0936" y="1743249"/>
            <a:ext cx="6439899" cy="336902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测试策略与质量保障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单元测试实施方法</a:t>
            </a:r>
            <a:r>
              <a:t>：</a:t>
            </a:r>
          </a:p>
          <a:p>
            <a:pPr lvl="1"/>
            <a:r>
              <a:t>Jest测试框架配置与使用</a:t>
            </a:r>
          </a:p>
          <a:p>
            <a:pPr lvl="1"/>
            <a:r>
              <a:t>React Testing Library最佳实践</a:t>
            </a:r>
          </a:p>
          <a:p>
            <a:pPr lvl="1"/>
            <a:r>
              <a:t>模拟用户交互行为测试</a:t>
            </a:r>
          </a:p>
          <a:p>
            <a:pPr/>
            <a:r>
              <a:rPr b="1"/>
              <a:t>集成测试方案</a:t>
            </a:r>
            <a:r>
              <a:t>：</a:t>
            </a:r>
          </a:p>
          <a:p>
            <a:pPr lvl="1"/>
            <a:r>
              <a:t>Cypress端到端测试框架</a:t>
            </a:r>
          </a:p>
          <a:p>
            <a:pPr lvl="1"/>
            <a:r>
              <a:t>用户流程完整性验证</a:t>
            </a:r>
          </a:p>
          <a:p>
            <a:pPr lvl="1"/>
            <a:r>
              <a:t>跨浏览器兼容性测试</a:t>
            </a:r>
          </a:p>
          <a:p>
            <a:pPr/>
            <a:r>
              <a:rPr b="1"/>
              <a:t>测试驱动开发流程</a:t>
            </a:r>
            <a:r>
              <a:t>：</a:t>
            </a:r>
          </a:p>
          <a:p>
            <a:pPr lvl="1"/>
            <a:r>
              <a:t>红-绿-重构循环实践</a:t>
            </a:r>
          </a:p>
          <a:p>
            <a:pPr lvl="1"/>
            <a:r>
              <a:t>测试覆盖率监控与优化</a:t>
            </a:r>
          </a:p>
          <a:p>
            <a:pPr lvl="1"/>
            <a:r>
              <a:t>持续集成环境集成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工程化与开发工具链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构建工具配置优化</a:t>
            </a:r>
            <a:r>
              <a:t>：</a:t>
            </a:r>
          </a:p>
          <a:p>
            <a:pPr lvl="1"/>
            <a:r>
              <a:t>Webpack模块打包深度配置</a:t>
            </a:r>
          </a:p>
          <a:p>
            <a:pPr lvl="1"/>
            <a:r>
              <a:t>Babel转译器插件生态系统</a:t>
            </a:r>
          </a:p>
          <a:p>
            <a:pPr lvl="1"/>
            <a:r>
              <a:t>代码分割与懒加载策略</a:t>
            </a:r>
          </a:p>
          <a:p>
            <a:pPr/>
            <a:r>
              <a:rPr b="1"/>
              <a:t>开发体验提升工具</a:t>
            </a:r>
            <a:r>
              <a:t>：</a:t>
            </a:r>
          </a:p>
          <a:p>
            <a:pPr lvl="1"/>
            <a:r>
              <a:t>React DevTools调试技巧</a:t>
            </a:r>
          </a:p>
          <a:p>
            <a:pPr lvl="1"/>
            <a:r>
              <a:t>ESLint代码规范检查</a:t>
            </a:r>
          </a:p>
          <a:p>
            <a:pPr lvl="1"/>
            <a:r>
              <a:t>Prettier自动代码格式化</a:t>
            </a:r>
          </a:p>
          <a:p>
            <a:pPr lvl="1"/>
            <a:r>
              <a:t>Hot Module Replacement热更新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生态系统与未来展望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丰富生态组件库</a:t>
            </a:r>
            <a:r>
              <a:t>：</a:t>
            </a:r>
          </a:p>
          <a:p>
            <a:pPr lvl="1"/>
            <a:r>
              <a:t>Material-UI企业级设计系统</a:t>
            </a:r>
          </a:p>
          <a:p>
            <a:pPr lvl="1"/>
            <a:r>
              <a:t>Ant Design中后台解决方案</a:t>
            </a:r>
          </a:p>
          <a:p>
            <a:pPr lvl="1"/>
            <a:r>
              <a:t>Chakra UI可访问性优先框架</a:t>
            </a:r>
          </a:p>
          <a:p>
            <a:pPr/>
            <a:r>
              <a:rPr b="1"/>
              <a:t>微前端架构集成</a:t>
            </a:r>
            <a:r>
              <a:t>：</a:t>
            </a:r>
          </a:p>
          <a:p>
            <a:pPr lvl="1"/>
            <a:r>
              <a:t>Module Federation模块联邦</a:t>
            </a:r>
          </a:p>
          <a:p>
            <a:pPr lvl="1"/>
            <a:r>
              <a:t>渐进式迁移策略</a:t>
            </a:r>
          </a:p>
          <a:p>
            <a:pPr lvl="1"/>
            <a:r>
              <a:t>团队协作与版本管理</a:t>
            </a:r>
          </a:p>
          <a:p>
            <a:pPr/>
            <a:r>
              <a:rPr b="1"/>
              <a:t>React未来发展方向</a:t>
            </a:r>
            <a:r>
              <a:t>：</a:t>
            </a:r>
          </a:p>
          <a:p>
            <a:pPr lvl="1"/>
            <a:r>
              <a:t>Concurrent Mode并发特性演进</a:t>
            </a:r>
          </a:p>
          <a:p>
            <a:pPr lvl="1"/>
            <a:r>
              <a:t>Server Components服务端组件</a:t>
            </a:r>
          </a:p>
          <a:p>
            <a:pPr lvl="1"/>
            <a:r>
              <a:t>编译时优化技术探索</a:t>
            </a:r>
          </a:p>
          <a:p>
            <a:pPr lvl="1"/>
            <a:r>
              <a:t>WebAssembly集成可能性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sineVTI">
  <a:themeElements>
    <a:clrScheme name="AnalogousFromDarkSeedLeftStep">
      <a:dk1>
        <a:srgbClr val="000000"/>
      </a:dk1>
      <a:lt1>
        <a:srgbClr val="FFFFFF"/>
      </a:lt1>
      <a:dk2>
        <a:srgbClr val="233A3E"/>
      </a:dk2>
      <a:lt2>
        <a:srgbClr val="E8E5E2"/>
      </a:lt2>
      <a:accent1>
        <a:srgbClr val="2979E7"/>
      </a:accent1>
      <a:accent2>
        <a:srgbClr val="17B2D0"/>
      </a:accent2>
      <a:accent3>
        <a:srgbClr val="20B690"/>
      </a:accent3>
      <a:accent4>
        <a:srgbClr val="14B94A"/>
      </a:accent4>
      <a:accent5>
        <a:srgbClr val="2EB921"/>
      </a:accent5>
      <a:accent6>
        <a:srgbClr val="65B514"/>
      </a:accent6>
      <a:hlink>
        <a:srgbClr val="329639"/>
      </a:hlink>
      <a:folHlink>
        <a:srgbClr val="7F7F7F"/>
      </a:folHlink>
    </a:clrScheme>
    <a:fontScheme name="Custom 50">
      <a:majorFont>
        <a:latin typeface="Grandview"/>
        <a:ea typeface=""/>
        <a:cs typeface=""/>
      </a:majorFont>
      <a:minorFont>
        <a:latin typeface="Grandvie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78D9019-7CE1-4B77-8F5D-67F6576598C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42E6C21-1752-4E06-9FE3-208D45ADB66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AF6E7B4D-FB62-47B7-AAA7-0DEC9938DB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Helvetica Neue Medium</vt:lpstr>
      <vt:lpstr>Arial</vt:lpstr>
      <vt:lpstr>Calibri</vt:lpstr>
      <vt:lpstr>Grandview</vt:lpstr>
      <vt:lpstr>Wingdings</vt:lpstr>
      <vt:lpstr>CosineVTI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React技术框架全面解析</dc:title>
  <cp:lastModifiedBy>sherry cai</cp:lastModifiedBy>
  <cp:revision>97</cp:revision>
  <dcterms:created xsi:type="dcterms:W3CDTF">2024-01-05T14:58:10Z</dcterms:created>
  <dcterms:modified xsi:type="dcterms:W3CDTF">2026-04-02T08:03:55Z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